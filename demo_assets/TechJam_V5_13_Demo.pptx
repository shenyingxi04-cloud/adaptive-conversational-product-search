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6ec6446c564d77" /><Relationship Type="http://schemas.openxmlformats.org/officeDocument/2006/relationships/extended-properties" Target="/docProps/app.xml" Id="Re677791d958b48d4" /><Relationship Type="http://schemas.openxmlformats.org/officeDocument/2006/relationships/officeDocument" Target="/ppt/presentation.xml" Id="R76c351714de848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b6bf0efa6a4c86"/>
  </p:sldMasterIdLst>
  <p:notesMasterIdLst>
    <p:notesMasterId xmlns:r="http://schemas.openxmlformats.org/officeDocument/2006/relationships" r:id="R71386cef62bb469f"/>
  </p:notesMasterIdLst>
  <p:sldIdLst>
    <p:sldId xmlns:r="http://schemas.openxmlformats.org/officeDocument/2006/relationships" id="256" r:id="R0fc85d78db564e4d"/>
    <p:sldId xmlns:r="http://schemas.openxmlformats.org/officeDocument/2006/relationships" id="257" r:id="Rc35967d62d34427f"/>
    <p:sldId xmlns:r="http://schemas.openxmlformats.org/officeDocument/2006/relationships" id="258" r:id="R3fb6871e7509420b"/>
    <p:sldId xmlns:r="http://schemas.openxmlformats.org/officeDocument/2006/relationships" id="259" r:id="R0d66dc6433e24c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2a7e1b893c41d0" /><Relationship Type="http://schemas.openxmlformats.org/officeDocument/2006/relationships/slideMaster" Target="/ppt/slideMasters/slideMaster1.xml" Id="R65b6bf0efa6a4c86" /><Relationship Type="http://schemas.openxmlformats.org/officeDocument/2006/relationships/notesMaster" Target="/ppt/notesMasters/notesMaster1.xml" Id="R71386cef62bb469f" /><Relationship Type="http://schemas.openxmlformats.org/officeDocument/2006/relationships/presProps" Target="/ppt/presProps.xml" Id="Rb1360e20ffb74204" /><Relationship Type="http://schemas.openxmlformats.org/officeDocument/2006/relationships/tableStyles" Target="/ppt/tableStyles.xml" Id="Rc539f36435e34cb6" /><Relationship Type="http://schemas.openxmlformats.org/officeDocument/2006/relationships/slide" Target="/ppt/slides/slide1.xml" Id="R0fc85d78db564e4d" /><Relationship Type="http://schemas.openxmlformats.org/officeDocument/2006/relationships/slide" Target="/ppt/slides/slide2.xml" Id="Rc35967d62d34427f" /><Relationship Type="http://schemas.openxmlformats.org/officeDocument/2006/relationships/slide" Target="/ppt/slides/slide3.xml" Id="R3fb6871e7509420b" /><Relationship Type="http://schemas.openxmlformats.org/officeDocument/2006/relationships/slide" Target="/ppt/slides/slide4.xml" Id="R0d66dc6433e24c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9e07cef04243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c7a247fe4d496c" /><Relationship Type="http://schemas.openxmlformats.org/officeDocument/2006/relationships/notesMaster" Target="/ppt/notesMasters/notesMaster1.xml" Id="R5a4510d9022f41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3a3b6c7c304ea6" /><Relationship Type="http://schemas.openxmlformats.org/officeDocument/2006/relationships/notesMaster" Target="/ppt/notesMasters/notesMaster1.xml" Id="Ra04a44bf88bd47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c609b0445c497a" /><Relationship Type="http://schemas.openxmlformats.org/officeDocument/2006/relationships/notesMaster" Target="/ppt/notesMasters/notesMaster1.xml" Id="Re4687b1ba5cf4f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90d94ceb4c4b03" /><Relationship Type="http://schemas.openxmlformats.org/officeDocument/2006/relationships/notesMaster" Target="/ppt/notesMasters/notesMaster1.xml" Id="Rbf2f4533409b41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user problem: real shopping conversations evolve. Our agent keeps useful constraints across turns but detects explicit corrections, so stale intent does not poison the next 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implementation: starter/agent.py</a:t>
            </a:r>
          </a:p>
          <a:p xmlns:a="http://schemas.openxmlformats.org/drawingml/2006/main">
            <a:r>
              <a:t>- Demo flow: docs/demo_script.md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ranking path quickly, then switch to the terminal demo. Point out that semantic reranking is gated: it adds recall for broad browsing, while structured filters and deterministic lexical fallback protect precision and reproducibility.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Architecture and ablation notes: docs/technical_report.md</a:t>
            </a:r>
          </a:p>
          <a:p xmlns:a="http://schemas.openxmlformats.org/drawingml/2006/main">
            <a:r>
              <a:t>- Implementation: starter/agent.py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the live demo, anchor the story in the evaluator. Hit@10 reaches 77 percent, MRR is 0.4149, and the combined score is 0.6407. Repeated evaluation produced identical outputs, and the normal turn remains interactive on the test machine.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Evaluator output: submission/reproduction_result.json</a:t>
            </a:r>
          </a:p>
          <a:p xmlns:a="http://schemas.openxmlformats.org/drawingml/2006/main">
            <a:r>
              <a:t>- Benchmark summary: docs/technical_report.md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engineering promise: the system handles changing intent, runs without external model APIs, and can be reproduced from the submitted code and documented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README: README.md</a:t>
            </a:r>
          </a:p>
          <a:p xmlns:a="http://schemas.openxmlformats.org/drawingml/2006/main">
            <a:r>
              <a:t>- Reproduction guide: submission/README.md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918d07723c44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1ec1cb12f340ac" /><Relationship Type="http://schemas.openxmlformats.org/officeDocument/2006/relationships/slideLayout" Target="/ppt/slideLayouts/slideLayout1.xml" Id="Rc5025132762046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025132762046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016fa3ee44d8a" /><Relationship Type="http://schemas.openxmlformats.org/officeDocument/2006/relationships/notesSlide" Target="/ppt/notesSlides/notesSlide1.xml" Id="R2952570950524a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7d8111a6f499a" /><Relationship Type="http://schemas.openxmlformats.org/officeDocument/2006/relationships/notesSlide" Target="/ppt/notesSlides/notesSlide2.xml" Id="R124c85ea9a3947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45d2056a8402c" /><Relationship Type="http://schemas.openxmlformats.org/officeDocument/2006/relationships/notesSlide" Target="/ppt/notesSlides/notesSlide3.xml" Id="R5cc1e7a931c149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2ab53df6f4e96" /><Relationship Type="http://schemas.openxmlformats.org/officeDocument/2006/relationships/notesSlide" Target="/ppt/notesSlides/notesSlide4.xml" Id="R43fad43fa84445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77C02-6488-48A9-B7E3-64F65A3C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TIKTOK TECHJAM 2026 · PRODUCT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7EB5A-A282-4B3C-8443-DC6D5650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7A6"/>
                </a:solidFill>
              </a:defRPr>
            </a:pPr>
            <a:r>
              <a:rPr sz="975" b="1">
                <a:solidFill>
                  <a:srgbClr val="8A97A6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31869-563D-4088-8EE8-73E37F81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Adaptive Conversational</a:t>
            </a:r>
          </a:p>
          <a:p xmlns:a="http://schemas.openxmlformats.org/drawingml/2006/main"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Product 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179A9-0F96-4991-A8C4-A806870F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</a:defRPr>
            </a:pPr>
            <a:r>
              <a:rPr sz="1800" b="0">
                <a:solidFill>
                  <a:srgbClr val="52606D"/>
                </a:solidFill>
              </a:rPr>
              <a:t>Search that remembers — and knows when to forget.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8C56A-444C-4333-B01C-6E5C1C47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STATEFUL  ·  OFFLINE  ·  REPRODUCIBLE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2E5F8-4C46-4DCA-B69B-97131373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990600"/>
            <a:ext cx="4438650" cy="464820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A7454-2846-4724-95AC-92F92081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3525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 shopper changes their mind.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0E088-44BD-4515-A5B7-2AC1BCBE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00250"/>
            <a:ext cx="2343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ED80D-91D4-49A0-894C-D52A5B5E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Women’s ankle boots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DF5A4-324D-4961-9554-09ADD433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2514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7F2FF"/>
          </a:solidFill>
          <a:ln xmlns:a="http://schemas.openxmlformats.org/drawingml/2006/main" w="9525">
            <a:solidFill>
              <a:srgbClr val="E7F2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F9AE9-0D2C-45E3-A991-4F7FBD26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153"/>
                </a:solidFill>
              </a:defRPr>
            </a:pPr>
            <a:r>
              <a:rPr sz="1200" b="1">
                <a:solidFill>
                  <a:srgbClr val="183153"/>
                </a:solidFill>
              </a:rPr>
              <a:t>Waterproof + comfortable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2D04D-F63C-472C-846E-ACD56591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14750"/>
            <a:ext cx="3143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DEE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7E0E3-A202-4C05-AFEC-29FA8666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671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153"/>
                </a:solidFill>
              </a:defRPr>
            </a:pPr>
            <a:r>
              <a:rPr sz="1200" b="1">
                <a:solidFill>
                  <a:srgbClr val="183153"/>
                </a:solidFill>
              </a:rPr>
              <a:t>Actually: black leather, casual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3BB00-7182-4492-B0C5-31506040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815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The agent carries useful context forward,</a:t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then clears conflicting constraints.</a:t>
            </a:r>
          </a:p>
        </p:txBody>
      </p:sp>
    </p:spTree>
    <p:extLst>
      <p:ext uri="{BB962C8B-B14F-4D97-AF65-F5344CB8AC3E}">
        <p14:creationId xmlns:p14="http://schemas.microsoft.com/office/powerpoint/2010/main" val="7252878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AE493D-840A-4867-85B5-6171E554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08FD4-1107-49CD-AD3B-290F2F0B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7A6"/>
                </a:solidFill>
              </a:defRPr>
            </a:pPr>
            <a:r>
              <a:rPr sz="975" b="1">
                <a:solidFill>
                  <a:srgbClr val="8A97A6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B60F1-5DBF-4713-A755-3E756061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One message. Six retrieval routes.</a:t>
            </a:r>
          </a:p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One stable Top 10.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46D5C-6C1F-4E59-A3A1-941059F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Structured constraints stay authoritative; local semantics help only when the query is exploratory.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2D1D7-3BFB-47A2-96B9-5235134C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381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E68DC-E413-4145-A226-339A1948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26A0F-7B9C-4544-BB64-217A5992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Intent +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65A78-C6B6-4AB6-AFCC-E736CDFF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carry, override, reset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85D1E-894E-472B-8926-5B914A70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29000"/>
            <a:ext cx="266700" cy="400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B9667-E900-418E-9D1D-DEFAC472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381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A340B-33FA-43F8-8B13-481ED5A2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90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08AB3-5552-4BFB-B8AD-F7CE7EB4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290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FTS5 retrieval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41C93-D45E-4801-A1DE-32EF33BB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052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six query routes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A9DEC-02F9-4207-BF5B-AD16351C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29000"/>
            <a:ext cx="266700" cy="400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4EDA8-25AE-408E-A537-3322FF7C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2381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7F2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CD330C-B2EA-4D72-A63C-71662EC6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90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D9C863-496A-4A03-9492-C8A90D0D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290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Hybrid rerank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7D5497-D212-4532-A8BC-FB75339F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rules + local embedding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068D25-6F05-42BD-82D0-BD664DF1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29000"/>
            <a:ext cx="266700" cy="400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11719-1342-411E-93EB-E45EA358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2381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907A87-2349-419F-9C35-C96189FD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90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D2FB2D-4B9E-4291-91E5-EB4CA55A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290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Top 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192E35-B250-4001-B21E-152D5A9B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052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deterministic 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E15D21-6E2F-4F6C-8CBE-D638D11F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83153"/>
          </a:solidFill>
          <a:ln xmlns:a="http://schemas.openxmlformats.org/drawingml/2006/main" w="9525">
            <a:solidFill>
              <a:srgbClr val="18315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D3ED01-3603-47FC-8BC3-1658C8A9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CBF4"/>
                </a:solidFill>
              </a:defRPr>
            </a:pPr>
            <a:r>
              <a:rPr sz="975" b="1">
                <a:solidFill>
                  <a:srgbClr val="6DCBF4"/>
                </a:solidFill>
              </a:rPr>
              <a:t>SAFE BY DESIGN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89BF42-AAC7-4FA0-A586-90612131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81600"/>
            <a:ext cx="843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 API call in the ranking path  ·  cached local embeddings  ·  lexical fallback always available</a:t>
            </a:r>
          </a:p>
        </p:txBody>
      </p:sp>
    </p:spTree>
    <p:extLst>
      <p:ext uri="{BB962C8B-B14F-4D97-AF65-F5344CB8AC3E}">
        <p14:creationId xmlns:p14="http://schemas.microsoft.com/office/powerpoint/2010/main" val="19484494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C989D6-B80A-4F84-BAE5-5D2D4F94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MEASURED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CDE21-3230-4B80-90CA-B3270C73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7A6"/>
                </a:solidFill>
              </a:defRPr>
            </a:pPr>
            <a:r>
              <a:rPr sz="975" b="1">
                <a:solidFill>
                  <a:srgbClr val="8A97A6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61AED-7AF9-4565-940A-C33385A3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Competitive gains, measured locally.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588D2-79AB-49E5-8845-BE15D5C4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</a:defRPr>
            </a:pPr>
            <a:r>
              <a:rPr sz="1275" b="0">
                <a:solidFill>
                  <a:srgbClr val="52606D"/>
                </a:solidFill>
              </a:rPr>
              <a:t>Official local evaluator · V5.13 · repeated runs identical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E3B73-FCB2-48EA-86C3-AC3A09A5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766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98FEC-9CF9-4C93-BAA6-661B3163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2743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77.0%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F07F9-3B9B-4366-ADF7-64103FFA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Hit@10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04FA3-1545-4078-8C98-EA638016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6.16× starter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347C7-5228-4534-95BD-409CABC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32766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DB302-E736-4868-B31D-2F43B423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09850"/>
            <a:ext cx="2743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0.4149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EC163-309D-4CE0-9C65-89D7464A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242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MRR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0E00B-C053-4D0B-B9A6-094A9C7A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195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ranking 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DFCEF-947E-42D3-A731-0ACE8777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2766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83153"/>
          </a:solidFill>
          <a:ln xmlns:a="http://schemas.openxmlformats.org/drawingml/2006/main" w="9525">
            <a:solidFill>
              <a:srgbClr val="1831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D631D-CBB3-471B-92F9-DBD82CCF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9850"/>
            <a:ext cx="2743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0.6407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22225-5D47-462E-8501-FD5F1789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DCBF4"/>
                </a:solidFill>
              </a:defRPr>
            </a:pPr>
            <a:r>
              <a:rPr sz="1425" b="1">
                <a:solidFill>
                  <a:srgbClr val="6DCBF4"/>
                </a:solidFill>
              </a:rPr>
              <a:t>Final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1A0556-86E3-4574-820C-439AD473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195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8F5"/>
                </a:solidFill>
              </a:defRPr>
            </a:pPr>
            <a:r>
              <a:rPr sz="1125" b="0">
                <a:solidFill>
                  <a:srgbClr val="DCE8F5"/>
                </a:solidFill>
              </a:rPr>
              <a:t>current best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82B98-04B6-47D5-9871-A0806F8F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5A5F4-524C-4520-85B1-9B1478E8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482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A36D"/>
                </a:solidFill>
              </a:defRPr>
            </a:pPr>
            <a:r>
              <a:rPr sz="1500" b="1">
                <a:solidFill>
                  <a:srgbClr val="15A36D"/>
                </a:solidFill>
              </a:rPr>
              <a:t>~0.2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007F7C-1E11-4ED1-AF2D-3FF2B5E4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67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median conversational turn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8DB34-4602-4C8D-9EAA-9C439CCD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482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A36D"/>
                </a:solidFill>
              </a:defRPr>
            </a:pPr>
            <a:r>
              <a:rPr sz="1500" b="1">
                <a:solidFill>
                  <a:srgbClr val="15A36D"/>
                </a:solidFill>
              </a:rPr>
              <a:t>50,000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03DC44-520D-4668-BE12-36254EC8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673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products indexed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1FA681-877C-4FE2-877F-05DA878C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482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A36D"/>
                </a:solidFill>
              </a:defRPr>
            </a:pPr>
            <a:r>
              <a:rPr sz="1500" b="1">
                <a:solidFill>
                  <a:srgbClr val="15A36D"/>
                </a:solidFill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C88B14-6774-46D3-BD8F-15CEFA31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673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external API calls</a:t>
            </a:r>
          </a:p>
        </p:txBody>
      </p:sp>
    </p:spTree>
    <p:extLst>
      <p:ext uri="{BB962C8B-B14F-4D97-AF65-F5344CB8AC3E}">
        <p14:creationId xmlns:p14="http://schemas.microsoft.com/office/powerpoint/2010/main" val="6043107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8315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0E05C-10BF-43E4-AB09-58D35B13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CBF4"/>
                </a:solidFill>
              </a:defRPr>
            </a:pPr>
            <a:r>
              <a:rPr sz="975" b="1">
                <a:solidFill>
                  <a:srgbClr val="6DCBF4"/>
                </a:solidFill>
              </a:rPr>
              <a:t>04  · 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D50EC-5A4A-4C6A-AD60-4760D946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666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Stateful.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Offline.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Reproducible.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7A4E1-36B0-4E11-9351-1A0CD88B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00150"/>
            <a:ext cx="3924300" cy="28384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234366"/>
          </a:solidFill>
          <a:ln xmlns:a="http://schemas.openxmlformats.org/drawingml/2006/main" w="9525">
            <a:solidFill>
              <a:srgbClr val="31577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8EAF1-6658-49B8-A4E8-75006603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621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50,000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1C310-F2F5-45ED-ACE3-BF0F8674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430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8F5"/>
                </a:solidFill>
              </a:defRPr>
            </a:pPr>
            <a:r>
              <a:rPr sz="1350" b="0">
                <a:solidFill>
                  <a:srgbClr val="DCE8F5"/>
                </a:solidFill>
              </a:rPr>
              <a:t>products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DBFE4-6B79-4D02-B529-C44CD7C4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19350"/>
            <a:ext cx="47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9C42F-1739-4FAA-A81A-91BBA967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003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8F5"/>
                </a:solidFill>
              </a:defRPr>
            </a:pPr>
            <a:r>
              <a:rPr sz="1350" b="0">
                <a:solidFill>
                  <a:srgbClr val="DCE8F5"/>
                </a:solidFill>
              </a:rPr>
              <a:t>API calls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BE00A-AB05-423D-8C7E-3626E4B7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766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DCBF4"/>
                </a:solidFill>
              </a:defRPr>
            </a:pPr>
            <a:r>
              <a:rPr sz="2025" b="1">
                <a:solidFill>
                  <a:srgbClr val="6DCBF4"/>
                </a:solidFill>
              </a:rPr>
              <a:t>Graceful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47AFF-E478-4BAD-9A73-3C637C5B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623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8F5"/>
                </a:solidFill>
              </a:defRPr>
            </a:pPr>
            <a:r>
              <a:rPr sz="1350" b="0">
                <a:solidFill>
                  <a:srgbClr val="DCE8F5"/>
                </a:solidFill>
              </a:rPr>
              <a:t>fallback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995F1-0F1F-437A-A029-2AD8DF45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</a:defRPr>
            </a:pPr>
            <a:r>
              <a:rPr sz="1350" b="1">
                <a:solidFill>
                  <a:srgbClr val="6DCBF4"/>
                </a:solidFill>
              </a:rPr>
              <a:t>Adaptive Conversational Product 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48E89-6D22-4713-AF6A-D712E3F2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8F5"/>
                </a:solidFill>
              </a:defRPr>
            </a:pPr>
            <a:r>
              <a:rPr sz="1200" b="0">
                <a:solidFill>
                  <a:srgbClr val="DCE8F5"/>
                </a:solidFill>
              </a:rPr>
              <a:t>github.com/shenyingxi04-cloud/adaptive-conversational-product-search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D14E63-7C70-462C-BD86-C40AF3E8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483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49261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2026-08-29T14:38:55.4190000Z</dcterms:created>
  <dcterms:modified xsi:type="dcterms:W3CDTF">2026-08-29T14:38:55.4190000Z</dcterms:modified>
</coreProperties>
</file>