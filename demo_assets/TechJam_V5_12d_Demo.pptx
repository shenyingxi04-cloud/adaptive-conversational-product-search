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aa8836206448c8" /><Relationship Type="http://schemas.openxmlformats.org/officeDocument/2006/relationships/extended-properties" Target="/docProps/app.xml" Id="Ra752dcbbd9e94462" /><Relationship Type="http://schemas.openxmlformats.org/officeDocument/2006/relationships/officeDocument" Target="/ppt/presentation.xml" Id="Rc43f9c608ca243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e718aaa0bb40d1"/>
  </p:sldMasterIdLst>
  <p:notesMasterIdLst>
    <p:notesMasterId xmlns:r="http://schemas.openxmlformats.org/officeDocument/2006/relationships" r:id="R5b57d6147c9f450b"/>
  </p:notesMasterIdLst>
  <p:sldIdLst>
    <p:sldId xmlns:r="http://schemas.openxmlformats.org/officeDocument/2006/relationships" id="256" r:id="Rae020c0bdfb34b15"/>
    <p:sldId xmlns:r="http://schemas.openxmlformats.org/officeDocument/2006/relationships" id="257" r:id="Rb7315c9022ce4aeb"/>
    <p:sldId xmlns:r="http://schemas.openxmlformats.org/officeDocument/2006/relationships" id="258" r:id="R5dd7bbccc4f44f71"/>
    <p:sldId xmlns:r="http://schemas.openxmlformats.org/officeDocument/2006/relationships" id="259" r:id="Rc2610528ccff41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071ff7030f434e" /><Relationship Type="http://schemas.openxmlformats.org/officeDocument/2006/relationships/slideMaster" Target="/ppt/slideMasters/slideMaster1.xml" Id="R50e718aaa0bb40d1" /><Relationship Type="http://schemas.openxmlformats.org/officeDocument/2006/relationships/notesMaster" Target="/ppt/notesMasters/notesMaster1.xml" Id="R5b57d6147c9f450b" /><Relationship Type="http://schemas.openxmlformats.org/officeDocument/2006/relationships/presProps" Target="/ppt/presProps.xml" Id="Ra53c592b411c432e" /><Relationship Type="http://schemas.openxmlformats.org/officeDocument/2006/relationships/tableStyles" Target="/ppt/tableStyles.xml" Id="R4ba8d07ee29e423f" /><Relationship Type="http://schemas.openxmlformats.org/officeDocument/2006/relationships/slide" Target="/ppt/slides/slide1.xml" Id="Rae020c0bdfb34b15" /><Relationship Type="http://schemas.openxmlformats.org/officeDocument/2006/relationships/slide" Target="/ppt/slides/slide2.xml" Id="Rb7315c9022ce4aeb" /><Relationship Type="http://schemas.openxmlformats.org/officeDocument/2006/relationships/slide" Target="/ppt/slides/slide3.xml" Id="R5dd7bbccc4f44f71" /><Relationship Type="http://schemas.openxmlformats.org/officeDocument/2006/relationships/slide" Target="/ppt/slides/slide4.xml" Id="Rc2610528ccff41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6a7e15957c4e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3c2c6be5bd4843" /><Relationship Type="http://schemas.openxmlformats.org/officeDocument/2006/relationships/notesMaster" Target="/ppt/notesMasters/notesMaster1.xml" Id="R9eef36f690e843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5f6e987efa417f" /><Relationship Type="http://schemas.openxmlformats.org/officeDocument/2006/relationships/notesMaster" Target="/ppt/notesMasters/notesMaster1.xml" Id="R59d398f146c140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cb466d3c6442bb" /><Relationship Type="http://schemas.openxmlformats.org/officeDocument/2006/relationships/notesMaster" Target="/ppt/notesMasters/notesMaster1.xml" Id="R3506f824fc8a43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49e426a9f44b64" /><Relationship Type="http://schemas.openxmlformats.org/officeDocument/2006/relationships/notesMaster" Target="/ppt/notesMasters/notesMaster1.xml" Id="Rcadbf08e11b741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user problem: real shopping conversations evolve. Our agent keeps useful constraints across turns but detects explicit corrections, so stale intent does not poison the next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implementation: starter/agent.py</a:t>
            </a:r>
          </a:p>
          <a:p xmlns:a="http://schemas.openxmlformats.org/drawingml/2006/main">
            <a:r>
              <a:t>- Demo flow: docs/demo_script.md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ranking path quickly, then switch to the terminal demo. Point out that semantic reranking is gated: it adds recall for broad browsing, while structured filters and deterministic lexical fallback protect precision and reproducibility.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Architecture and ablation notes: docs/technical_report.md</a:t>
            </a:r>
          </a:p>
          <a:p xmlns:a="http://schemas.openxmlformats.org/drawingml/2006/main">
            <a:r>
              <a:t>- Implementation: starter/agent.py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the live demo, anchor the story in the evaluator. Hit@10 reaches 77 percent, MRR is 0.4058, and the combined score is 0.6379. Repeated evaluation produced identical outputs, and the normal turn remains interactive on the test machine.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Evaluator output: submission/reproduction_result.json</a:t>
            </a:r>
          </a:p>
          <a:p xmlns:a="http://schemas.openxmlformats.org/drawingml/2006/main">
            <a:r>
              <a:t>- Benchmark summary: docs/technical_report.md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engineering promise: the system handles changing intent, runs without external model APIs, and can be reproduced from the submitted code and documented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README: README.md</a:t>
            </a:r>
          </a:p>
          <a:p xmlns:a="http://schemas.openxmlformats.org/drawingml/2006/main">
            <a:r>
              <a:t>- Reproduction guide: submission/README.md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0ef73816747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bf4d1f0299443d" /><Relationship Type="http://schemas.openxmlformats.org/officeDocument/2006/relationships/slideLayout" Target="/ppt/slideLayouts/slideLayout1.xml" Id="Rba77dd52e24446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77dd52e24446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5bf1958c74d6c" /><Relationship Type="http://schemas.openxmlformats.org/officeDocument/2006/relationships/notesSlide" Target="/ppt/notesSlides/notesSlide1.xml" Id="R558fb1e6ba2f47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2bbc43cb945ea" /><Relationship Type="http://schemas.openxmlformats.org/officeDocument/2006/relationships/notesSlide" Target="/ppt/notesSlides/notesSlide2.xml" Id="R507b2c5101024e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42cd763c4495f" /><Relationship Type="http://schemas.openxmlformats.org/officeDocument/2006/relationships/notesSlide" Target="/ppt/notesSlides/notesSlide3.xml" Id="R2e106aa185084a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1aacaf70942d6" /><Relationship Type="http://schemas.openxmlformats.org/officeDocument/2006/relationships/notesSlide" Target="/ppt/notesSlides/notesSlide4.xml" Id="Rce3f7d1e6f8448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4DCB5-174C-48A2-B23A-F93A8BDA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TIKTOK TECHJAM 2026 · PRODUCT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5DF48-9D3F-46DD-95C1-4DF14669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7A6"/>
                </a:solidFill>
              </a:defRPr>
            </a:pPr>
            <a:r>
              <a:rPr sz="975" b="1">
                <a:solidFill>
                  <a:srgbClr val="8A97A6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CB208-DA3E-407C-8573-D137C746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Adaptive Conversational</a:t>
            </a:r>
          </a:p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Product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E1183-C1AD-4FBC-A6F0-E78C36F6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Search that remembers — and knows when to forget.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9BE58-3465-4BCA-B0E9-70B34E68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STATEFUL  ·  OFFLINE  ·  REPRODUCIBLE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207BB-250E-4A7C-AC07-624C5B23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990600"/>
            <a:ext cx="4438650" cy="464820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F9737-48BF-42FE-B129-A1E3512E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525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 shopper changes their mind.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4556C-8CB5-452F-B10F-D04E34F9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2343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11269-16E1-4975-8C77-07948DD0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Women’s ankle boots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33FC6-C46E-444E-AA21-E6B998E7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514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9525">
            <a:solidFill>
              <a:srgbClr val="E7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62E9E-D53F-4E19-8731-80DAE66B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153"/>
                </a:solidFill>
              </a:defRPr>
            </a:pPr>
            <a:r>
              <a:rPr sz="1200" b="1">
                <a:solidFill>
                  <a:srgbClr val="183153"/>
                </a:solidFill>
              </a:rPr>
              <a:t>Waterproof + comfortable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C5C98-EA61-4AC0-9A30-E955073A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3143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5952E-32E1-4D49-905C-D482C0A8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153"/>
                </a:solidFill>
              </a:defRPr>
            </a:pPr>
            <a:r>
              <a:rPr sz="1200" b="1">
                <a:solidFill>
                  <a:srgbClr val="183153"/>
                </a:solidFill>
              </a:rPr>
              <a:t>Actually: black leather, casual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AC62C-3F57-4FC5-9E98-BEF3A83E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815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The agent carries useful context forward,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then clears conflicting constraints.</a:t>
            </a:r>
          </a:p>
        </p:txBody>
      </p:sp>
    </p:spTree>
    <p:extLst>
      <p:ext uri="{BB962C8B-B14F-4D97-AF65-F5344CB8AC3E}">
        <p14:creationId xmlns:p14="http://schemas.microsoft.com/office/powerpoint/2010/main" val="739461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5FC94-0848-4F43-85FC-1DFF06D8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1376B-C214-437E-B35B-BBB292CF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7A6"/>
                </a:solidFill>
              </a:defRPr>
            </a:pPr>
            <a:r>
              <a:rPr sz="975" b="1">
                <a:solidFill>
                  <a:srgbClr val="8A97A6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414EF-2D6B-466D-BE39-A1C93FDD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One message. Six retrieval routes.</a:t>
            </a:r>
          </a:p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One stable Top 10.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62FAD-1514-4710-A8FB-CB497465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Structured constraints stay authoritative; local semantics help only when the query is exploratory.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1B3BA-97F7-4850-8D12-687DC23F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EAE9C-558C-44DE-AAC3-AB7E27AF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7C1E3-469C-4E53-BDCD-795A5FAF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Intent +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A370C-B8C0-414C-9E90-86FBF70D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carry, override, reset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0C015-9F0F-4B34-BFDE-8C7FF84A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266700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17561-9E17-4D87-A679-C6D48723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438A7-2442-45B0-944A-8A88C7A0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90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590C4-1C5F-4A30-BB91-A0614636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FTS5 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73308-8D10-48C7-AA2E-C122E7E4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05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six query routes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D4695-C1AB-4440-8673-096E7F61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29000"/>
            <a:ext cx="266700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53DFB-36CF-4B1E-ADDD-A9BADC6A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BD9EC-D553-4A7B-9ED4-53F6520A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CB185-1ED5-4E14-9018-707C66E5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290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Hybrid rerank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99700-086B-4116-837E-4F12F3DF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rules + local embedding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63C2C-CAF8-4D8E-8EFF-D818A82A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266700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B13A2-DED1-43D4-962F-C9AD661F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D6FAC-C847-4AA4-985F-0F976ED9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90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59EBF-0471-4565-8AA7-F1ED8744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290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Top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7717B-5D99-4D3D-9077-E0F3ADF3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05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deterministic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77B53-CDD7-4881-A8EE-79EFBFF0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83153"/>
          </a:solidFill>
          <a:ln xmlns:a="http://schemas.openxmlformats.org/drawingml/2006/main" w="9525">
            <a:solidFill>
              <a:srgbClr val="18315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D6A58B-6E0F-4C03-8A93-539DEAAB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SAFE BY DESIGN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4A78DA-2682-4128-8B73-82377539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81600"/>
            <a:ext cx="843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 API call in the ranking path  ·  cached local embeddings  ·  lexical fallback always available</a:t>
            </a:r>
          </a:p>
        </p:txBody>
      </p:sp>
    </p:spTree>
    <p:extLst>
      <p:ext uri="{BB962C8B-B14F-4D97-AF65-F5344CB8AC3E}">
        <p14:creationId xmlns:p14="http://schemas.microsoft.com/office/powerpoint/2010/main" val="658834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49D60-5B36-451C-8238-CE392FE8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MEASURED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8C467-E758-41C2-8B88-85323ACB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7A6"/>
                </a:solidFill>
              </a:defRPr>
            </a:pPr>
            <a:r>
              <a:rPr sz="975" b="1">
                <a:solidFill>
                  <a:srgbClr val="8A97A6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C4643-2521-47AC-8646-18F6F4C6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Competitive gains, measured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9F2E4-4BEF-4C55-B324-55C72FD7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Official local evaluator · V5.12d · repeated runs identical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EC64E-F97E-4E15-8137-657DF845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766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07E86-503C-446B-8E8F-1A995E5D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74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77.0%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904B0-BD88-45B1-8056-10DCDB84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Hit@10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64604-73B0-42DC-B378-5C4731E9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6.16× starter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34B8F-CE2A-4FCC-B10E-93DF5DB8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2766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10F3F-4FCB-4335-9131-9B39E27C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9850"/>
            <a:ext cx="274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0.4058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DA3FC-39F5-422F-9588-30068CAB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MRR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DDACE-DCB0-4482-A9DD-10AF6FFD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95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ranking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2AE61-64A5-4A12-BFFA-862B79FE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2766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83153"/>
          </a:solidFill>
          <a:ln xmlns:a="http://schemas.openxmlformats.org/drawingml/2006/main" w="9525">
            <a:solidFill>
              <a:srgbClr val="1831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173B8-735F-4250-BACA-9D31157C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74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0.6379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6394B-F4B2-4353-B368-B87DCA72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DCBF4"/>
                </a:solidFill>
              </a:defRPr>
            </a:pPr>
            <a:r>
              <a:rPr sz="1425" b="1">
                <a:solidFill>
                  <a:srgbClr val="6DCBF4"/>
                </a:solidFill>
              </a:rPr>
              <a:t>Final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D635B-66DD-458C-ACA6-36CAF4B1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95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8F5"/>
                </a:solidFill>
              </a:defRPr>
            </a:pPr>
            <a:r>
              <a:rPr sz="1125" b="0">
                <a:solidFill>
                  <a:srgbClr val="DCE8F5"/>
                </a:solidFill>
              </a:rPr>
              <a:t>current best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87A5A-9789-45C9-814B-27B252F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AC0D9-BAF2-4371-BAF8-285D95F9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482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A36D"/>
                </a:solidFill>
              </a:defRPr>
            </a:pPr>
            <a:r>
              <a:rPr sz="1500" b="1">
                <a:solidFill>
                  <a:srgbClr val="15A36D"/>
                </a:solidFill>
              </a:rPr>
              <a:t>~0.2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4EF7A-71B8-42B1-AA0B-8C6152B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67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median conversational 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4DBE3-4A40-4955-81FE-369B3717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482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A36D"/>
                </a:solidFill>
              </a:defRPr>
            </a:pPr>
            <a:r>
              <a:rPr sz="1500" b="1">
                <a:solidFill>
                  <a:srgbClr val="15A36D"/>
                </a:solidFill>
              </a:rPr>
              <a:t>50,000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739B8-E9F0-414D-9436-E2DA18D7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673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products indexed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947B41-E4ED-4C27-9AC0-58D585A9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48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A36D"/>
                </a:solidFill>
              </a:defRPr>
            </a:pPr>
            <a:r>
              <a:rPr sz="1500" b="1">
                <a:solidFill>
                  <a:srgbClr val="15A36D"/>
                </a:solidFill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31C5E-7C33-4560-8BCE-AB801C0C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673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external API calls</a:t>
            </a:r>
          </a:p>
        </p:txBody>
      </p:sp>
    </p:spTree>
    <p:extLst>
      <p:ext uri="{BB962C8B-B14F-4D97-AF65-F5344CB8AC3E}">
        <p14:creationId xmlns:p14="http://schemas.microsoft.com/office/powerpoint/2010/main" val="200147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31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1557C-A1FB-4B41-8D2C-EF40D4F4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04  · 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0C9DA-77CE-41D7-987A-4C1F3513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66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Stateful.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Offline.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Reproducible.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8112A-EC4D-4956-87CC-D2523661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00150"/>
            <a:ext cx="3924300" cy="28384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234366"/>
          </a:solidFill>
          <a:ln xmlns:a="http://schemas.openxmlformats.org/drawingml/2006/main" w="9525">
            <a:solidFill>
              <a:srgbClr val="31577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43DDC-1F58-478F-99B8-1985D1CB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621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50,000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04175-F9AA-41FC-8CD5-39318993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430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5"/>
                </a:solidFill>
              </a:defRPr>
            </a:pPr>
            <a:r>
              <a:rPr sz="1350" b="0">
                <a:solidFill>
                  <a:srgbClr val="DCE8F5"/>
                </a:solidFill>
              </a:rPr>
              <a:t>products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2E6C5-E790-4815-AB6C-8B278734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28389-DC12-4798-8D77-11057B81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03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5"/>
                </a:solidFill>
              </a:defRPr>
            </a:pPr>
            <a:r>
              <a:rPr sz="1350" b="0">
                <a:solidFill>
                  <a:srgbClr val="DCE8F5"/>
                </a:solidFill>
              </a:rPr>
              <a:t>API calls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22878-50A6-4D15-B1F8-BA31EF47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DCBF4"/>
                </a:solidFill>
              </a:defRPr>
            </a:pPr>
            <a:r>
              <a:rPr sz="2025" b="1">
                <a:solidFill>
                  <a:srgbClr val="6DCBF4"/>
                </a:solidFill>
              </a:rPr>
              <a:t>Graceful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C6A4D-4458-403A-90B3-DC738095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623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5"/>
                </a:solidFill>
              </a:defRPr>
            </a:pPr>
            <a:r>
              <a:rPr sz="1350" b="0">
                <a:solidFill>
                  <a:srgbClr val="DCE8F5"/>
                </a:solidFill>
              </a:rPr>
              <a:t>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88963-8DEC-4748-BEB9-604638F3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</a:defRPr>
            </a:pPr>
            <a:r>
              <a:rPr sz="1350" b="1">
                <a:solidFill>
                  <a:srgbClr val="6DCBF4"/>
                </a:solidFill>
              </a:rPr>
              <a:t>Adaptive Conversational Product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F5EED-4B7C-4C7B-AFE7-E085ADA5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8F5"/>
                </a:solidFill>
              </a:defRPr>
            </a:pPr>
            <a:r>
              <a:rPr sz="1200" b="0">
                <a:solidFill>
                  <a:srgbClr val="DCE8F5"/>
                </a:solidFill>
              </a:rPr>
              <a:t>github.com/shenyingxi04-cloud/adaptive-conversational-product-search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61765-AB14-4AEF-85B9-5EE81FB5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483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5015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2026-08-29T13:10:39.9510000Z</dcterms:created>
  <dcterms:modified xsi:type="dcterms:W3CDTF">2026-08-29T13:10:39.9510000Z</dcterms:modified>
</coreProperties>
</file>